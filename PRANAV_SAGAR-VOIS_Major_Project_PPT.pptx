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0"/>
  </p:notesMasterIdLst>
  <p:handoutMasterIdLst>
    <p:handoutMasterId r:id="rId21"/>
  </p:handoutMasterIdLst>
  <p:sldIdLst>
    <p:sldId id="338" r:id="rId5"/>
    <p:sldId id="327" r:id="rId6"/>
    <p:sldId id="315" r:id="rId7"/>
    <p:sldId id="329" r:id="rId8"/>
    <p:sldId id="302" r:id="rId9"/>
    <p:sldId id="339" r:id="rId10"/>
    <p:sldId id="340" r:id="rId11"/>
    <p:sldId id="344" r:id="rId12"/>
    <p:sldId id="345" r:id="rId13"/>
    <p:sldId id="346" r:id="rId14"/>
    <p:sldId id="347" r:id="rId15"/>
    <p:sldId id="341" r:id="rId16"/>
    <p:sldId id="342" r:id="rId17"/>
    <p:sldId id="343" r:id="rId18"/>
    <p:sldId id="30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7"/>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sagarpranav118-prog/VOIS-Seasonal-Agriculture-Performance-Analysis"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119673" y="3583914"/>
            <a:ext cx="8509519" cy="861497"/>
          </a:xfrm>
        </p:spPr>
        <p:txBody>
          <a:bodyPr vert="horz" lIns="91440" tIns="45720" rIns="91440" bIns="45720" rtlCol="0" anchor="t">
            <a:normAutofit/>
          </a:bodyPr>
          <a:lstStyle/>
          <a:p>
            <a:r>
              <a:rPr lang="en-US" b="0" dirty="0">
                <a:solidFill>
                  <a:schemeClr val="tx1"/>
                </a:solidFill>
              </a:rPr>
              <a:t>Student Name- PRANAV SAGAR</a:t>
            </a:r>
            <a:endParaRPr lang="en-IN" b="0" dirty="0">
              <a:solidFill>
                <a:schemeClr val="tx1"/>
              </a:solidFill>
            </a:endParaRPr>
          </a:p>
          <a:p>
            <a:r>
              <a:rPr lang="en-US" b="0" dirty="0">
                <a:solidFill>
                  <a:schemeClr val="tx1"/>
                </a:solidFill>
              </a:rPr>
              <a:t>College Name- MAHARISHI MARKANDESHWAR ENGINEERING COLLEEGE</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844750"/>
            <a:ext cx="9622632" cy="743448"/>
          </a:xfrm>
        </p:spPr>
        <p:txBody>
          <a:bodyPr>
            <a:normAutofit fontScale="90000"/>
          </a:bodyPr>
          <a:lstStyle/>
          <a:p>
            <a:r>
              <a:rPr lang="en-GB" sz="3200" dirty="0"/>
              <a:t>Project Title - Seasonal Agriculture Performance Analysis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57406" y="4576469"/>
            <a:ext cx="5350088" cy="369332"/>
          </a:xfrm>
          <a:prstGeom prst="rect">
            <a:avLst/>
          </a:prstGeom>
          <a:noFill/>
        </p:spPr>
        <p:txBody>
          <a:bodyPr wrap="square" rtlCol="0">
            <a:spAutoFit/>
          </a:bodyPr>
          <a:lstStyle/>
          <a:p>
            <a:r>
              <a:rPr lang="en-US" b="1" dirty="0"/>
              <a:t>AICTE STU ID : STU6974f3f0b4dd11769272304</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36764" y="2192798"/>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467359" y="301360"/>
            <a:ext cx="6493278" cy="830997"/>
          </a:xfrm>
        </p:spPr>
        <p:txBody>
          <a:bodyPr>
            <a:normAutofit fontScale="90000"/>
          </a:bodyPr>
          <a:lstStyle/>
          <a:p>
            <a:r>
              <a:rPr lang="en-GB" dirty="0"/>
              <a:t>Project Description</a:t>
            </a:r>
            <a:br>
              <a:rPr lang="en-GB" dirty="0"/>
            </a:br>
            <a:br>
              <a:rPr lang="en-GB" sz="4000" dirty="0"/>
            </a:br>
            <a:r>
              <a:rPr lang="en-US" sz="2700" dirty="0"/>
              <a:t>Seasonal Agriculture Performance Analysis is a data analytics project that analyzes agricultural data across Kharif, Rabi and Zaid seasons. The project involves data cleaning, exploratory data analysis, statistical analysis and data visualization to identify seasonal differences in crop yield, production, resource utilization, environmental conditions, water efficiency and economic performance. The analysis aims to generate meaningful insights and evidence-based recommendations for better seasonal agricultural planning.</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a:bodyPr>
          <a:lstStyle/>
          <a:p>
            <a:pPr lvl="0"/>
            <a:r>
              <a:rPr lang="en-US" sz="2800" dirty="0"/>
              <a:t>Farmers </a:t>
            </a:r>
          </a:p>
          <a:p>
            <a:pPr lvl="0"/>
            <a:r>
              <a:rPr lang="en-US" sz="2800" dirty="0"/>
              <a:t>Agricultural planners </a:t>
            </a:r>
          </a:p>
          <a:p>
            <a:pPr lvl="0"/>
            <a:r>
              <a:rPr lang="en-US" sz="2800" dirty="0"/>
              <a:t>Agricultural researchers </a:t>
            </a:r>
          </a:p>
          <a:p>
            <a:pPr lvl="0"/>
            <a:r>
              <a:rPr lang="en-US" sz="2800" dirty="0"/>
              <a:t>Government departments </a:t>
            </a:r>
          </a:p>
          <a:p>
            <a:pPr lvl="0"/>
            <a:r>
              <a:rPr lang="en-US" sz="2800" dirty="0"/>
              <a:t>Agricultural analysts </a:t>
            </a:r>
          </a:p>
          <a:p>
            <a:pPr lvl="0"/>
            <a:r>
              <a:rPr lang="en-US" sz="2800" dirty="0"/>
              <a:t>Irrigation/resource management authorities </a:t>
            </a:r>
          </a:p>
          <a:p>
            <a:pPr lvl="0"/>
            <a:r>
              <a:rPr lang="en-US" sz="2800" dirty="0"/>
              <a:t>Agribusiness stakeholders</a:t>
            </a:r>
          </a:p>
          <a:p>
            <a:pPr algn="just">
              <a:lnSpc>
                <a:spcPct val="150000"/>
              </a:lnSpc>
            </a:pPr>
            <a:endParaRPr lang="en-IN" sz="28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950098" y="1763486"/>
            <a:ext cx="7468222" cy="4912522"/>
          </a:xfrm>
        </p:spPr>
        <p:txBody>
          <a:bodyPr/>
          <a:lstStyle/>
          <a:p>
            <a:pPr lvl="0"/>
            <a:r>
              <a:rPr lang="en-US" dirty="0"/>
              <a:t>Python </a:t>
            </a:r>
          </a:p>
          <a:p>
            <a:pPr lvl="0"/>
            <a:r>
              <a:rPr lang="en-US" dirty="0"/>
              <a:t>Google </a:t>
            </a:r>
            <a:r>
              <a:rPr lang="en-US" dirty="0" err="1"/>
              <a:t>Colab</a:t>
            </a:r>
            <a:r>
              <a:rPr lang="en-US" dirty="0"/>
              <a:t> </a:t>
            </a:r>
          </a:p>
          <a:p>
            <a:pPr lvl="0"/>
            <a:r>
              <a:rPr lang="en-US" dirty="0"/>
              <a:t>Pandas </a:t>
            </a:r>
          </a:p>
          <a:p>
            <a:pPr lvl="0"/>
            <a:r>
              <a:rPr lang="en-US" dirty="0"/>
              <a:t>NumPy </a:t>
            </a:r>
          </a:p>
          <a:p>
            <a:pPr lvl="0"/>
            <a:r>
              <a:rPr lang="en-US" dirty="0"/>
              <a:t>Matplotlib </a:t>
            </a:r>
          </a:p>
          <a:p>
            <a:pPr lvl="0"/>
            <a:r>
              <a:rPr lang="en-US" dirty="0"/>
              <a:t>Seaborn </a:t>
            </a:r>
          </a:p>
          <a:p>
            <a:pPr lvl="0"/>
            <a:r>
              <a:rPr lang="en-US" dirty="0"/>
              <a:t>CSV Dataset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256697" y="182764"/>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471E9C46-721B-6425-96E3-0C4076BEE854}"/>
              </a:ext>
            </a:extLst>
          </p:cNvPr>
          <p:cNvSpPr txBox="1"/>
          <p:nvPr/>
        </p:nvSpPr>
        <p:spPr>
          <a:xfrm>
            <a:off x="3851439" y="509777"/>
            <a:ext cx="4121641" cy="369332"/>
          </a:xfrm>
          <a:prstGeom prst="rect">
            <a:avLst/>
          </a:prstGeom>
          <a:noFill/>
        </p:spPr>
        <p:txBody>
          <a:bodyPr wrap="none" rtlCol="0">
            <a:spAutoFit/>
          </a:bodyPr>
          <a:lstStyle/>
          <a:p>
            <a:r>
              <a:rPr lang="en-US" dirty="0"/>
              <a:t>Dataset Exploration &amp; Data Cleaning:-</a:t>
            </a:r>
          </a:p>
        </p:txBody>
      </p:sp>
      <p:pic>
        <p:nvPicPr>
          <p:cNvPr id="6" name="Picture 5">
            <a:extLst>
              <a:ext uri="{FF2B5EF4-FFF2-40B4-BE49-F238E27FC236}">
                <a16:creationId xmlns:a16="http://schemas.microsoft.com/office/drawing/2014/main" id="{1AC63284-2DA9-A65B-333A-906BC792814C}"/>
              </a:ext>
            </a:extLst>
          </p:cNvPr>
          <p:cNvPicPr>
            <a:picLocks noChangeAspect="1"/>
          </p:cNvPicPr>
          <p:nvPr/>
        </p:nvPicPr>
        <p:blipFill>
          <a:blip r:embed="rId3"/>
          <a:stretch>
            <a:fillRect/>
          </a:stretch>
        </p:blipFill>
        <p:spPr>
          <a:xfrm>
            <a:off x="539412" y="1529287"/>
            <a:ext cx="11434476" cy="5135673"/>
          </a:xfrm>
          <a:prstGeom prst="rect">
            <a:avLst/>
          </a:prstGeom>
        </p:spPr>
      </p:pic>
      <p:sp>
        <p:nvSpPr>
          <p:cNvPr id="9" name="TextBox 8">
            <a:extLst>
              <a:ext uri="{FF2B5EF4-FFF2-40B4-BE49-F238E27FC236}">
                <a16:creationId xmlns:a16="http://schemas.microsoft.com/office/drawing/2014/main" id="{D916D62E-7A45-F61C-E94E-0A378DE4B16C}"/>
              </a:ext>
            </a:extLst>
          </p:cNvPr>
          <p:cNvSpPr txBox="1"/>
          <p:nvPr/>
        </p:nvSpPr>
        <p:spPr>
          <a:xfrm>
            <a:off x="221656" y="1006067"/>
            <a:ext cx="9678123" cy="584775"/>
          </a:xfrm>
          <a:prstGeom prst="rect">
            <a:avLst/>
          </a:prstGeom>
          <a:noFill/>
        </p:spPr>
        <p:txBody>
          <a:bodyPr wrap="square" rtlCol="0">
            <a:spAutoFit/>
          </a:bodyPr>
          <a:lstStyle/>
          <a:p>
            <a:r>
              <a:rPr lang="en-US" sz="1600" dirty="0"/>
              <a:t>The dataset contains 4,000 records and 28 variables. Missing values were identified in rainfall, soil moisture and yield and were handled using median imputation.</a:t>
            </a:r>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473949" y="1604306"/>
            <a:ext cx="4275138" cy="477520"/>
          </a:xfrm>
        </p:spPr>
        <p:txBody>
          <a:bodyPr/>
          <a:lstStyle/>
          <a:p>
            <a:pPr marL="0" indent="0">
              <a:buNone/>
            </a:pPr>
            <a:r>
              <a:rPr lang="en-US" b="1" dirty="0"/>
              <a:t>Seasonal Performance Analysis:</a:t>
            </a:r>
            <a:endParaRPr lang="en-IN" b="1" dirty="0"/>
          </a:p>
        </p:txBody>
      </p:sp>
      <p:sp>
        <p:nvSpPr>
          <p:cNvPr id="9" name="TextBox 8">
            <a:extLst>
              <a:ext uri="{FF2B5EF4-FFF2-40B4-BE49-F238E27FC236}">
                <a16:creationId xmlns:a16="http://schemas.microsoft.com/office/drawing/2014/main" id="{678F2F68-6B51-4CFE-01EF-C8543E4D764A}"/>
              </a:ext>
            </a:extLst>
          </p:cNvPr>
          <p:cNvSpPr txBox="1"/>
          <p:nvPr/>
        </p:nvSpPr>
        <p:spPr>
          <a:xfrm>
            <a:off x="473949" y="2821689"/>
            <a:ext cx="4679154" cy="923330"/>
          </a:xfrm>
          <a:prstGeom prst="rect">
            <a:avLst/>
          </a:prstGeom>
          <a:noFill/>
        </p:spPr>
        <p:txBody>
          <a:bodyPr wrap="square" rtlCol="0">
            <a:spAutoFit/>
          </a:bodyPr>
          <a:lstStyle/>
          <a:p>
            <a:r>
              <a:rPr lang="en-US" dirty="0"/>
              <a:t>Kharif recorded the highest average yield, while Zaid recorded the lowest average yield among the three seasons.</a:t>
            </a:r>
          </a:p>
        </p:txBody>
      </p:sp>
      <p:pic>
        <p:nvPicPr>
          <p:cNvPr id="12" name="Picture 11">
            <a:extLst>
              <a:ext uri="{FF2B5EF4-FFF2-40B4-BE49-F238E27FC236}">
                <a16:creationId xmlns:a16="http://schemas.microsoft.com/office/drawing/2014/main" id="{0B65777E-1286-0B4A-E861-143FA7004207}"/>
              </a:ext>
            </a:extLst>
          </p:cNvPr>
          <p:cNvPicPr>
            <a:picLocks noChangeAspect="1"/>
          </p:cNvPicPr>
          <p:nvPr/>
        </p:nvPicPr>
        <p:blipFill>
          <a:blip r:embed="rId3"/>
          <a:stretch>
            <a:fillRect/>
          </a:stretch>
        </p:blipFill>
        <p:spPr>
          <a:xfrm>
            <a:off x="4902054" y="748109"/>
            <a:ext cx="6968964" cy="554511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458295" y="1608410"/>
            <a:ext cx="3413909" cy="477520"/>
          </a:xfrm>
        </p:spPr>
        <p:txBody>
          <a:bodyPr>
            <a:noAutofit/>
          </a:bodyPr>
          <a:lstStyle/>
          <a:p>
            <a:pPr marL="0" indent="0">
              <a:buNone/>
            </a:pPr>
            <a:r>
              <a:rPr lang="en-US" b="1" dirty="0"/>
              <a:t>Environmental &amp; Resource Analysis:</a:t>
            </a:r>
            <a:endParaRPr lang="en-IN" b="1" dirty="0"/>
          </a:p>
        </p:txBody>
      </p:sp>
      <p:sp>
        <p:nvSpPr>
          <p:cNvPr id="2" name="TextBox 1">
            <a:extLst>
              <a:ext uri="{FF2B5EF4-FFF2-40B4-BE49-F238E27FC236}">
                <a16:creationId xmlns:a16="http://schemas.microsoft.com/office/drawing/2014/main" id="{B805B57E-F3CB-EEC1-5FD3-80C6CB459140}"/>
              </a:ext>
            </a:extLst>
          </p:cNvPr>
          <p:cNvSpPr txBox="1"/>
          <p:nvPr/>
        </p:nvSpPr>
        <p:spPr>
          <a:xfrm>
            <a:off x="458295" y="2828835"/>
            <a:ext cx="3413909" cy="1754326"/>
          </a:xfrm>
          <a:prstGeom prst="rect">
            <a:avLst/>
          </a:prstGeom>
          <a:noFill/>
        </p:spPr>
        <p:txBody>
          <a:bodyPr wrap="square" rtlCol="0">
            <a:spAutoFit/>
          </a:bodyPr>
          <a:lstStyle/>
          <a:p>
            <a:r>
              <a:rPr lang="en-US" dirty="0"/>
              <a:t>Seasonal differences were observed in rainfall, temperature, soil moisture and resource utilization. Kharif showed the highest average water efficiency.</a:t>
            </a:r>
          </a:p>
        </p:txBody>
      </p:sp>
      <p:pic>
        <p:nvPicPr>
          <p:cNvPr id="13" name="Picture 12">
            <a:extLst>
              <a:ext uri="{FF2B5EF4-FFF2-40B4-BE49-F238E27FC236}">
                <a16:creationId xmlns:a16="http://schemas.microsoft.com/office/drawing/2014/main" id="{4F8E601F-6094-3810-CB0F-EE9A21E54DA7}"/>
              </a:ext>
            </a:extLst>
          </p:cNvPr>
          <p:cNvPicPr>
            <a:picLocks noChangeAspect="1"/>
          </p:cNvPicPr>
          <p:nvPr/>
        </p:nvPicPr>
        <p:blipFill>
          <a:blip r:embed="rId3"/>
          <a:stretch>
            <a:fillRect/>
          </a:stretch>
        </p:blipFill>
        <p:spPr>
          <a:xfrm>
            <a:off x="3801856" y="786087"/>
            <a:ext cx="8233684" cy="5472834"/>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1B8ABF9E-FB61-1585-D342-A40075707B45}"/>
              </a:ext>
            </a:extLst>
          </p:cNvPr>
          <p:cNvPicPr>
            <a:picLocks noChangeAspect="1"/>
          </p:cNvPicPr>
          <p:nvPr/>
        </p:nvPicPr>
        <p:blipFill>
          <a:blip r:embed="rId3"/>
          <a:stretch>
            <a:fillRect/>
          </a:stretch>
        </p:blipFill>
        <p:spPr>
          <a:xfrm>
            <a:off x="2166778" y="1236535"/>
            <a:ext cx="7654207" cy="5250876"/>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637413" y="1608410"/>
            <a:ext cx="4275138" cy="477520"/>
          </a:xfrm>
        </p:spPr>
        <p:txBody>
          <a:bodyPr/>
          <a:lstStyle/>
          <a:p>
            <a:pPr marL="0" indent="0">
              <a:buNone/>
            </a:pPr>
            <a:r>
              <a:rPr lang="en-US" b="1" dirty="0"/>
              <a:t>Correlation Analysis:</a:t>
            </a:r>
            <a:endParaRPr lang="en-IN" b="1" dirty="0"/>
          </a:p>
        </p:txBody>
      </p:sp>
      <p:sp>
        <p:nvSpPr>
          <p:cNvPr id="2" name="TextBox 1">
            <a:extLst>
              <a:ext uri="{FF2B5EF4-FFF2-40B4-BE49-F238E27FC236}">
                <a16:creationId xmlns:a16="http://schemas.microsoft.com/office/drawing/2014/main" id="{134E4D4B-CDD3-510E-8720-27B4F3EB7084}"/>
              </a:ext>
            </a:extLst>
          </p:cNvPr>
          <p:cNvSpPr txBox="1"/>
          <p:nvPr/>
        </p:nvSpPr>
        <p:spPr>
          <a:xfrm>
            <a:off x="379839" y="2664170"/>
            <a:ext cx="4688604" cy="923330"/>
          </a:xfrm>
          <a:prstGeom prst="rect">
            <a:avLst/>
          </a:prstGeom>
          <a:noFill/>
        </p:spPr>
        <p:txBody>
          <a:bodyPr wrap="square" rtlCol="0">
            <a:spAutoFit/>
          </a:bodyPr>
          <a:lstStyle/>
          <a:p>
            <a:r>
              <a:rPr lang="en-US" dirty="0"/>
              <a:t>Yield showed a strong positive relationship with water efficiency and production in the dataset.</a:t>
            </a:r>
          </a:p>
        </p:txBody>
      </p:sp>
      <p:pic>
        <p:nvPicPr>
          <p:cNvPr id="6" name="Picture 5">
            <a:extLst>
              <a:ext uri="{FF2B5EF4-FFF2-40B4-BE49-F238E27FC236}">
                <a16:creationId xmlns:a16="http://schemas.microsoft.com/office/drawing/2014/main" id="{722D779C-7472-B425-5302-7EA71D90E68F}"/>
              </a:ext>
            </a:extLst>
          </p:cNvPr>
          <p:cNvPicPr>
            <a:picLocks noChangeAspect="1"/>
          </p:cNvPicPr>
          <p:nvPr/>
        </p:nvPicPr>
        <p:blipFill>
          <a:blip r:embed="rId3"/>
          <a:stretch>
            <a:fillRect/>
          </a:stretch>
        </p:blipFill>
        <p:spPr>
          <a:xfrm>
            <a:off x="5087270" y="233265"/>
            <a:ext cx="6932976" cy="6431695"/>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66CAF-4C01-DDD6-D23F-0393F2DF215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A38ED65-2B7A-5B68-E6E5-7D1679C614E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3C8FDFD7-7FC8-3540-1D7E-60BA606CDE5E}"/>
              </a:ext>
            </a:extLst>
          </p:cNvPr>
          <p:cNvSpPr>
            <a:spLocks noGrp="1"/>
          </p:cNvSpPr>
          <p:nvPr>
            <p:ph type="title"/>
          </p:nvPr>
        </p:nvSpPr>
        <p:spPr>
          <a:xfrm>
            <a:off x="256498" y="389540"/>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E96CCE9E-55A9-986F-6D06-8BC8F2E5C826}"/>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5698D14-33DF-7B39-3C28-FD6697261809}"/>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00FD3706-50B9-96E9-4DB4-F46C1351D5EC}"/>
              </a:ext>
            </a:extLst>
          </p:cNvPr>
          <p:cNvSpPr>
            <a:spLocks noGrp="1"/>
          </p:cNvSpPr>
          <p:nvPr>
            <p:ph type="body" sz="quarter" idx="12"/>
          </p:nvPr>
        </p:nvSpPr>
        <p:spPr>
          <a:xfrm>
            <a:off x="256498" y="1463929"/>
            <a:ext cx="2887918" cy="477520"/>
          </a:xfrm>
        </p:spPr>
        <p:txBody>
          <a:bodyPr>
            <a:noAutofit/>
          </a:bodyPr>
          <a:lstStyle/>
          <a:p>
            <a:pPr marL="0" indent="0">
              <a:buNone/>
            </a:pPr>
            <a:r>
              <a:rPr lang="en-US" b="1" dirty="0"/>
              <a:t>Crop-wise Seasonal Analysis:</a:t>
            </a:r>
            <a:endParaRPr lang="en-IN" b="1" dirty="0"/>
          </a:p>
        </p:txBody>
      </p:sp>
      <p:pic>
        <p:nvPicPr>
          <p:cNvPr id="3" name="Picture 2">
            <a:extLst>
              <a:ext uri="{FF2B5EF4-FFF2-40B4-BE49-F238E27FC236}">
                <a16:creationId xmlns:a16="http://schemas.microsoft.com/office/drawing/2014/main" id="{1740CC96-7421-6E89-1FD0-954E0E35AE84}"/>
              </a:ext>
            </a:extLst>
          </p:cNvPr>
          <p:cNvPicPr>
            <a:picLocks noChangeAspect="1"/>
          </p:cNvPicPr>
          <p:nvPr/>
        </p:nvPicPr>
        <p:blipFill>
          <a:blip r:embed="rId3"/>
          <a:stretch>
            <a:fillRect/>
          </a:stretch>
        </p:blipFill>
        <p:spPr>
          <a:xfrm>
            <a:off x="3246410" y="605545"/>
            <a:ext cx="8885690" cy="5646909"/>
          </a:xfrm>
          <a:prstGeom prst="rect">
            <a:avLst/>
          </a:prstGeom>
        </p:spPr>
      </p:pic>
      <p:sp>
        <p:nvSpPr>
          <p:cNvPr id="11" name="TextBox 10">
            <a:extLst>
              <a:ext uri="{FF2B5EF4-FFF2-40B4-BE49-F238E27FC236}">
                <a16:creationId xmlns:a16="http://schemas.microsoft.com/office/drawing/2014/main" id="{59277984-3DFD-C3BB-B49C-4E00B7EFE0F0}"/>
              </a:ext>
            </a:extLst>
          </p:cNvPr>
          <p:cNvSpPr txBox="1"/>
          <p:nvPr/>
        </p:nvSpPr>
        <p:spPr>
          <a:xfrm>
            <a:off x="256498" y="2882114"/>
            <a:ext cx="3186510" cy="1477328"/>
          </a:xfrm>
          <a:prstGeom prst="rect">
            <a:avLst/>
          </a:prstGeom>
          <a:noFill/>
        </p:spPr>
        <p:txBody>
          <a:bodyPr wrap="square" rtlCol="0">
            <a:spAutoFit/>
          </a:bodyPr>
          <a:lstStyle/>
          <a:p>
            <a:r>
              <a:rPr lang="en-US" dirty="0"/>
              <a:t>Crop performance varied across seasons, indicating that seasonal conditions affect different crops differently.</a:t>
            </a:r>
          </a:p>
        </p:txBody>
      </p:sp>
    </p:spTree>
    <p:extLst>
      <p:ext uri="{BB962C8B-B14F-4D97-AF65-F5344CB8AC3E}">
        <p14:creationId xmlns:p14="http://schemas.microsoft.com/office/powerpoint/2010/main" val="2896726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63385FE9-13EA-1582-9767-5E8ED6B76A2B}"/>
              </a:ext>
            </a:extLst>
          </p:cNvPr>
          <p:cNvSpPr txBox="1"/>
          <p:nvPr/>
        </p:nvSpPr>
        <p:spPr>
          <a:xfrm>
            <a:off x="675957" y="1810139"/>
            <a:ext cx="7318029" cy="3693319"/>
          </a:xfrm>
          <a:prstGeom prst="rect">
            <a:avLst/>
          </a:prstGeom>
          <a:noFill/>
        </p:spPr>
        <p:txBody>
          <a:bodyPr wrap="none" rtlCol="0">
            <a:spAutoFit/>
          </a:bodyPr>
          <a:lstStyle/>
          <a:p>
            <a:pPr marL="285750" lvl="0" indent="-285750">
              <a:buFont typeface="Wingdings" panose="05000000000000000000" pitchFamily="2" charset="2"/>
              <a:buChar char="§"/>
            </a:pPr>
            <a:r>
              <a:rPr lang="en-US" dirty="0"/>
              <a:t>Integrate real-time weather data. </a:t>
            </a:r>
          </a:p>
          <a:p>
            <a:pPr lvl="0"/>
            <a:endParaRPr lang="en-US" dirty="0"/>
          </a:p>
          <a:p>
            <a:pPr marL="285750" lvl="0" indent="-285750">
              <a:buFont typeface="Wingdings" panose="05000000000000000000" pitchFamily="2" charset="2"/>
              <a:buChar char="§"/>
            </a:pPr>
            <a:r>
              <a:rPr lang="en-US" dirty="0"/>
              <a:t>Incorporate soil and satellite-based information. </a:t>
            </a:r>
          </a:p>
          <a:p>
            <a:pPr lvl="0"/>
            <a:endParaRPr lang="en-US" dirty="0"/>
          </a:p>
          <a:p>
            <a:pPr marL="285750" lvl="0" indent="-285750">
              <a:buFont typeface="Wingdings" panose="05000000000000000000" pitchFamily="2" charset="2"/>
              <a:buChar char="§"/>
            </a:pPr>
            <a:r>
              <a:rPr lang="en-US" dirty="0"/>
              <a:t>Develop predictive models for crop yield. </a:t>
            </a:r>
          </a:p>
          <a:p>
            <a:pPr lvl="0"/>
            <a:endParaRPr lang="en-US" dirty="0"/>
          </a:p>
          <a:p>
            <a:pPr marL="285750" lvl="0" indent="-285750">
              <a:buFont typeface="Wingdings" panose="05000000000000000000" pitchFamily="2" charset="2"/>
              <a:buChar char="§"/>
            </a:pPr>
            <a:r>
              <a:rPr lang="en-US" dirty="0"/>
              <a:t>Forecast seasonal agricultural performance.</a:t>
            </a:r>
          </a:p>
          <a:p>
            <a:pPr lvl="0"/>
            <a:r>
              <a:rPr lang="en-US" dirty="0"/>
              <a:t> </a:t>
            </a:r>
          </a:p>
          <a:p>
            <a:pPr marL="285750" lvl="0" indent="-285750">
              <a:buFont typeface="Wingdings" panose="05000000000000000000" pitchFamily="2" charset="2"/>
              <a:buChar char="§"/>
            </a:pPr>
            <a:r>
              <a:rPr lang="en-US" dirty="0"/>
              <a:t>Develop dashboards for farmers and agricultural planners. </a:t>
            </a:r>
          </a:p>
          <a:p>
            <a:pPr lvl="0"/>
            <a:endParaRPr lang="en-US" dirty="0"/>
          </a:p>
          <a:p>
            <a:pPr marL="285750" lvl="0" indent="-285750">
              <a:buFont typeface="Wingdings" panose="05000000000000000000" pitchFamily="2" charset="2"/>
              <a:buChar char="§"/>
            </a:pPr>
            <a:r>
              <a:rPr lang="en-US" dirty="0"/>
              <a:t>Include larger datasets from multiple years and regions. </a:t>
            </a:r>
          </a:p>
          <a:p>
            <a:pPr lvl="0"/>
            <a:endParaRPr lang="en-US" dirty="0"/>
          </a:p>
          <a:p>
            <a:pPr marL="285750" lvl="0" indent="-285750">
              <a:buFont typeface="Wingdings" panose="05000000000000000000" pitchFamily="2" charset="2"/>
              <a:buChar char="§"/>
            </a:pPr>
            <a:r>
              <a:rPr lang="en-US" dirty="0"/>
              <a:t>Develop recommendation systems for crop and resource planning.</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456380" y="1486973"/>
            <a:ext cx="7232875" cy="646331"/>
          </a:xfrm>
          <a:prstGeom prst="rect">
            <a:avLst/>
          </a:prstGeom>
          <a:noFill/>
        </p:spPr>
        <p:txBody>
          <a:bodyPr wrap="square">
            <a:spAutoFit/>
          </a:bodyPr>
          <a:lstStyle/>
          <a:p>
            <a:r>
              <a:rPr lang="en-US" dirty="0">
                <a:hlinkClick r:id="rId3"/>
              </a:rPr>
              <a:t>https://github.com/sagarpranav118-prog/VOIS-Seasonal-Agriculture-Performance-Analysis</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B2C4D175-CC60-32A0-DD69-DEC87376F99A}"/>
              </a:ext>
            </a:extLst>
          </p:cNvPr>
          <p:cNvPicPr>
            <a:picLocks noChangeAspect="1"/>
          </p:cNvPicPr>
          <p:nvPr/>
        </p:nvPicPr>
        <p:blipFill>
          <a:blip r:embed="rId3"/>
          <a:stretch>
            <a:fillRect/>
          </a:stretch>
        </p:blipFill>
        <p:spPr>
          <a:xfrm>
            <a:off x="1677517" y="1498444"/>
            <a:ext cx="7349828" cy="5166516"/>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021159" y="2723271"/>
            <a:ext cx="6290285" cy="344312"/>
          </a:xfrm>
        </p:spPr>
        <p:txBody>
          <a:bodyPr>
            <a:noAutofit/>
          </a:bodyPr>
          <a:lstStyle/>
          <a:p>
            <a:r>
              <a:rPr lang="en-US" sz="7200" dirty="0"/>
              <a:t>Thank You</a:t>
            </a:r>
            <a:endParaRPr lang="en-IN" sz="7200"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p:tgtEl>
                                          <p:spTgt spid="17"/>
                                        </p:tgtEl>
                                        <p:attrNameLst>
                                          <p:attrName>ppt_y</p:attrName>
                                        </p:attrNameLst>
                                      </p:cBhvr>
                                      <p:tavLst>
                                        <p:tav tm="0">
                                          <p:val>
                                            <p:strVal val="#ppt_y+#ppt_h*1.125000"/>
                                          </p:val>
                                        </p:tav>
                                        <p:tav tm="100000">
                                          <p:val>
                                            <p:strVal val="#ppt_y"/>
                                          </p:val>
                                        </p:tav>
                                      </p:tavLst>
                                    </p:anim>
                                    <p:animEffect transition="in" filter="wipe(up)">
                                      <p:cBhvr>
                                        <p:cTn id="8" dur="500"/>
                                        <p:tgtEl>
                                          <p:spTgt spid="17"/>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nodePh="1">
                                  <p:stCondLst>
                                    <p:cond delay="0"/>
                                  </p:stCondLst>
                                  <p:endCondLst>
                                    <p:cond evt="begin" delay="0">
                                      <p:tn val="11"/>
                                    </p:cond>
                                  </p:endCondLst>
                                  <p:childTnLst>
                                    <p:set>
                                      <p:cBhvr>
                                        <p:cTn id="12" dur="1" fill="hold">
                                          <p:stCondLst>
                                            <p:cond delay="0"/>
                                          </p:stCondLst>
                                        </p:cTn>
                                        <p:tgtEl>
                                          <p:spTgt spid="30"/>
                                        </p:tgtEl>
                                        <p:attrNameLst>
                                          <p:attrName>style.visibility</p:attrName>
                                        </p:attrNameLst>
                                      </p:cBhvr>
                                      <p:to>
                                        <p:strVal val="visible"/>
                                      </p:to>
                                    </p:set>
                                    <p:anim calcmode="lin" valueType="num">
                                      <p:cBhvr additive="base">
                                        <p:cTn id="13" dur="500"/>
                                        <p:tgtEl>
                                          <p:spTgt spid="30"/>
                                        </p:tgtEl>
                                        <p:attrNameLst>
                                          <p:attrName>ppt_y</p:attrName>
                                        </p:attrNameLst>
                                      </p:cBhvr>
                                      <p:tavLst>
                                        <p:tav tm="0">
                                          <p:val>
                                            <p:strVal val="#ppt_y+#ppt_h*1.125000"/>
                                          </p:val>
                                        </p:tav>
                                        <p:tav tm="100000">
                                          <p:val>
                                            <p:strVal val="#ppt_y"/>
                                          </p:val>
                                        </p:tav>
                                      </p:tavLst>
                                    </p:anim>
                                    <p:animEffect transition="in" filter="wipe(up)">
                                      <p:cBhvr>
                                        <p:cTn id="14" dur="500"/>
                                        <p:tgtEl>
                                          <p:spTgt spid="30"/>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nodePh="1">
                                  <p:stCondLst>
                                    <p:cond delay="0"/>
                                  </p:stCondLst>
                                  <p:endCondLst>
                                    <p:cond evt="begin" delay="0">
                                      <p:tn val="17"/>
                                    </p:cond>
                                  </p:endCondLst>
                                  <p:childTnLst>
                                    <p:set>
                                      <p:cBhvr>
                                        <p:cTn id="18" dur="1" fill="hold">
                                          <p:stCondLst>
                                            <p:cond delay="0"/>
                                          </p:stCondLst>
                                        </p:cTn>
                                        <p:tgtEl>
                                          <p:spTgt spid="23"/>
                                        </p:tgtEl>
                                        <p:attrNameLst>
                                          <p:attrName>style.visibility</p:attrName>
                                        </p:attrNameLst>
                                      </p:cBhvr>
                                      <p:to>
                                        <p:strVal val="visible"/>
                                      </p:to>
                                    </p:set>
                                    <p:anim calcmode="lin" valueType="num">
                                      <p:cBhvr additive="base">
                                        <p:cTn id="19" dur="500"/>
                                        <p:tgtEl>
                                          <p:spTgt spid="23"/>
                                        </p:tgtEl>
                                        <p:attrNameLst>
                                          <p:attrName>ppt_y</p:attrName>
                                        </p:attrNameLst>
                                      </p:cBhvr>
                                      <p:tavLst>
                                        <p:tav tm="0">
                                          <p:val>
                                            <p:strVal val="#ppt_y+#ppt_h*1.125000"/>
                                          </p:val>
                                        </p:tav>
                                        <p:tav tm="100000">
                                          <p:val>
                                            <p:strVal val="#ppt_y"/>
                                          </p:val>
                                        </p:tav>
                                      </p:tavLst>
                                    </p:anim>
                                    <p:animEffect transition="in" filter="wipe(up)">
                                      <p:cBhvr>
                                        <p:cTn id="20"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3" grpId="0"/>
      <p:bldP spid="30"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1489</TotalTime>
  <Words>430</Words>
  <Application>Microsoft Office PowerPoint</Application>
  <PresentationFormat>Widescreen</PresentationFormat>
  <Paragraphs>58</Paragraphs>
  <Slides>15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Trebuchet MS</vt:lpstr>
      <vt:lpstr>Wingdings</vt:lpstr>
      <vt:lpstr>Wingdings 3</vt:lpstr>
      <vt:lpstr>Facet</vt:lpstr>
      <vt:lpstr>Project Title - Seasonal Agriculture Performance Analysis </vt:lpstr>
      <vt:lpstr>PROBLEM  STATEMENT</vt:lpstr>
      <vt:lpstr>Project Description  Seasonal Agriculture Performance Analysis is a data analytics project that analyzes agricultural data across Kharif, Rabi and Zaid seasons. The project involves data cleaning, exploratory data analysis, statistical analysis and data visualization to identify seasonal differences in crop yield, production, resource utilization, environmental conditions, water efficiency and economic performance. The analysis aims to generate meaningful insights and evidence-based recommendations for better seasonal agricultural planning. </vt:lpstr>
      <vt:lpstr>WHO ARE THE END USERS?</vt:lpstr>
      <vt:lpstr>Technology Used</vt:lpstr>
      <vt:lpstr>RESULTS </vt:lpstr>
      <vt:lpstr>RESULTS </vt:lpstr>
      <vt:lpstr>RESULTS </vt:lpstr>
      <vt:lpstr>RESULTS </vt:lpstr>
      <vt:lpstr>RESULTS </vt:lpstr>
      <vt:lpstr>RESULTS </vt:lpstr>
      <vt:lpstr>Future scope</vt:lpstr>
      <vt:lpstr>GitHub Link</vt:lpstr>
      <vt:lpstr>VOIS Course completion certificate -  Course name- Data Visualization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sagarpranav118@gmail.com</cp:lastModifiedBy>
  <cp:revision>104</cp:revision>
  <dcterms:created xsi:type="dcterms:W3CDTF">2021-07-11T13:13:15Z</dcterms:created>
  <dcterms:modified xsi:type="dcterms:W3CDTF">2026-09-09T15:28:09Z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